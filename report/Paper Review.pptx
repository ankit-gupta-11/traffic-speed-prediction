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58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42DD8-FF95-4CDB-999A-92925B0A016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E9D295-9821-4F2B-97E8-0D2B961E2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15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2216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268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2880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8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Paper Review</a:t>
            </a:r>
            <a:endParaRPr lang="en-US" sz="5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31699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667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for Intelligent Transportation Systems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2667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Federated Learning for Connected and Automated Vehicles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4632960"/>
            <a:ext cx="24384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5120640"/>
            <a:ext cx="60960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 Gupta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4400" y="585216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2025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463040"/>
            <a:ext cx="5242560" cy="463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97536" cy="463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072640"/>
            <a:ext cx="4632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for Intelligent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Transportation Systems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3169920"/>
            <a:ext cx="463296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Framework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(5 Categories)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Directions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39840" y="1463040"/>
            <a:ext cx="5242560" cy="463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39840" y="1463040"/>
            <a:ext cx="97536" cy="46329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44640" y="1645920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44640" y="2072640"/>
            <a:ext cx="4632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Learning for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 &amp; Automated Vehicles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44640" y="3169920"/>
            <a:ext cx="463296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Framework &amp; Architecture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in CAV Tasks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Directions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621792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Key Takeaways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288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4384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3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Language Models for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53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Transportation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438912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of the State of the Art and Challenges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5120640"/>
            <a:ext cx="1828800" cy="60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548640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Wandelt et al. | Applied Sciences (MDPI) | August 2024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1: Objectives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09600" y="1341120"/>
            <a:ext cx="10972800" cy="1341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146304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1828800"/>
            <a:ext cx="1048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comprehensive overview of LLM applications in Intelligent Transportation Systems (ITS), identify key challenges, and propose future research directions.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3048000"/>
            <a:ext cx="3535680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3440" y="3230880"/>
            <a:ext cx="677186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3440" y="37795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Literature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3440" y="4267200"/>
            <a:ext cx="304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130+ papers and systematically group them into meaningful categories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28160" y="3048000"/>
            <a:ext cx="3535680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1999" y="3230880"/>
            <a:ext cx="914401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0" y="37795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Challenges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0" y="4267200"/>
            <a:ext cx="304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barriers to LLM adoption in transportation systems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46720" y="3048000"/>
            <a:ext cx="3535680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90560" y="3230880"/>
            <a:ext cx="82031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90560" y="37795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Future Research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90560" y="4267200"/>
            <a:ext cx="304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actionable research directions for the emerging field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1: Methodology &amp; Framework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16226" y="1341120"/>
            <a:ext cx="5364480" cy="2682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341120"/>
            <a:ext cx="5364480" cy="4876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2480" y="140208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Foundations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2480" y="1950720"/>
            <a:ext cx="487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Mechanism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Structure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&amp; Fine-tuning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0" y="1341120"/>
            <a:ext cx="5364480" cy="2682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1341120"/>
            <a:ext cx="5364480" cy="487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0" y="140208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Approach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0" y="1950720"/>
            <a:ext cx="487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 papers analyzed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Post-ChatGPT era (2023-2024)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coverage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categorization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4130706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5-Category Taxonomy of LLM Applications in ITS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20640" y="4618386"/>
            <a:ext cx="1950720" cy="975360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20640" y="4679346"/>
            <a:ext cx="1950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600" y="4618386"/>
            <a:ext cx="1828800" cy="792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9600" y="4618386"/>
            <a:ext cx="1828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682240" y="5532786"/>
            <a:ext cx="1828800" cy="792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682240" y="5532786"/>
            <a:ext cx="1828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193280" y="5532786"/>
            <a:ext cx="1828800" cy="792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93280" y="5532786"/>
            <a:ext cx="1828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265920" y="4618386"/>
            <a:ext cx="1828800" cy="792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265920" y="4618386"/>
            <a:ext cx="1828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120640" y="5837586"/>
            <a:ext cx="1828800" cy="7924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20640" y="5837586"/>
            <a:ext cx="1828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1E0DEED-67E4-D932-49EA-45825F1B6D82}"/>
              </a:ext>
            </a:extLst>
          </p:cNvPr>
          <p:cNvCxnSpPr>
            <a:stCxn id="13" idx="1"/>
            <a:endCxn id="15" idx="3"/>
          </p:cNvCxnSpPr>
          <p:nvPr/>
        </p:nvCxnSpPr>
        <p:spPr>
          <a:xfrm flipH="1" flipV="1">
            <a:off x="2438400" y="5014626"/>
            <a:ext cx="2682240" cy="91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B3541E3-8483-8C4F-BFC0-062567CB3DC2}"/>
              </a:ext>
            </a:extLst>
          </p:cNvPr>
          <p:cNvCxnSpPr>
            <a:stCxn id="12" idx="2"/>
            <a:endCxn id="16" idx="0"/>
          </p:cNvCxnSpPr>
          <p:nvPr/>
        </p:nvCxnSpPr>
        <p:spPr>
          <a:xfrm flipH="1">
            <a:off x="3596640" y="5106066"/>
            <a:ext cx="1524000" cy="426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43A698C-010B-A39E-10C4-19EA1E7281E3}"/>
              </a:ext>
            </a:extLst>
          </p:cNvPr>
          <p:cNvCxnSpPr>
            <a:stCxn id="12" idx="4"/>
            <a:endCxn id="23" idx="0"/>
          </p:cNvCxnSpPr>
          <p:nvPr/>
        </p:nvCxnSpPr>
        <p:spPr>
          <a:xfrm flipH="1">
            <a:off x="6035040" y="5593746"/>
            <a:ext cx="60960" cy="243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0A9559-3084-3B3A-D469-1D0F4BBE6FD6}"/>
              </a:ext>
            </a:extLst>
          </p:cNvPr>
          <p:cNvCxnSpPr>
            <a:stCxn id="13" idx="3"/>
            <a:endCxn id="18" idx="0"/>
          </p:cNvCxnSpPr>
          <p:nvPr/>
        </p:nvCxnSpPr>
        <p:spPr>
          <a:xfrm>
            <a:off x="7071360" y="5106066"/>
            <a:ext cx="1036320" cy="426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AF7EEDA-1184-3182-DBC0-5EC901C50E3E}"/>
              </a:ext>
            </a:extLst>
          </p:cNvPr>
          <p:cNvCxnSpPr>
            <a:stCxn id="12" idx="6"/>
            <a:endCxn id="21" idx="1"/>
          </p:cNvCxnSpPr>
          <p:nvPr/>
        </p:nvCxnSpPr>
        <p:spPr>
          <a:xfrm flipV="1">
            <a:off x="7071360" y="5014626"/>
            <a:ext cx="2194560" cy="91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1: Key Applications by Category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09600" y="1341120"/>
          <a:ext cx="10972800" cy="5120640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Applications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Driving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Decision-making, User interaction, Environmental perception, Motion planning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GPT-4, MLLMs, VLMs, Talk2BEV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Accident report classification, Risk assessment, Factor identification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Aviation-BERT, SafeAeroBERT, TrafficSafetyGPT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Tourism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 planning, Personalized recommendations, Multilingual communication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ChatGPT, Gemini, Custom chatbots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control, Flow prediction, Monitoring, Behavior prediction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TrafficBERT, CALM, BERT-based models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Logistics, Supply chain, Aviation QA systems, Education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 Codex, aeroBERT, Domain-specific LLMs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1: Challenges &amp; Future Directions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341120"/>
            <a:ext cx="3535680" cy="1889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341120"/>
            <a:ext cx="3535680" cy="426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40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Open-Source &amp; Reproducibility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88976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 LLMs create ethical risks and reproducibility issues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67200" y="1341120"/>
            <a:ext cx="3535680" cy="1889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67200" y="1341120"/>
            <a:ext cx="3535680" cy="426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0" y="140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Human-Machine Interaction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0" y="188976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communication between humans and autonomous systems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24800" y="1341120"/>
            <a:ext cx="3535680" cy="1889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24800" y="1341120"/>
            <a:ext cx="3535680" cy="426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46720" y="140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Real-Time Capabilities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46720" y="188976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issues for time-critical transportation decisions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" y="3352800"/>
            <a:ext cx="3535680" cy="1889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" y="3352800"/>
            <a:ext cx="3535680" cy="426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413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Multi-Modal Integration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390144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images, video, audio, and sensor data together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67200" y="3352800"/>
            <a:ext cx="3535680" cy="1889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67200" y="3352800"/>
            <a:ext cx="3535680" cy="426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89120" y="3413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Verification &amp; Validation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389120" y="390144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testing protocols for safety-critical applications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24800" y="3352800"/>
            <a:ext cx="3535680" cy="1889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924800" y="3352800"/>
            <a:ext cx="3535680" cy="426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046720" y="3413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Ethical Considerations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046720" y="390144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privacy, accountability, and regulatory compliance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3B73A19E-E0C9-1ED4-30C0-4AC6C8C56DE9}"/>
              </a:ext>
            </a:extLst>
          </p:cNvPr>
          <p:cNvSpPr/>
          <p:nvPr/>
        </p:nvSpPr>
        <p:spPr>
          <a:xfrm>
            <a:off x="609599" y="5760720"/>
            <a:ext cx="10972799" cy="8057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My Understanding: Use open-source models, develop domain-specific benchmarks, and prioritize multi-modal integration with real-time processing capabilities.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B8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64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4384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3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Learning for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53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 &amp; Automated Vehicles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438912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on Privacy-Preserving Collaborative Learning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5120640"/>
            <a:ext cx="1828800" cy="60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548640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Chellapandi et al. | arXiv | March 2023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2: Objectives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341120"/>
            <a:ext cx="10972800" cy="1341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146304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1828800"/>
            <a:ext cx="1048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Federated Learning (FL) applications in Connected and Automated Vehicles (CAVs) to enable privacy-preserving collaborative model development across vehicle fleets.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3048000"/>
            <a:ext cx="3535680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3440" y="3230880"/>
            <a:ext cx="7924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3440" y="37795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FL Algorithms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3440" y="4267200"/>
            <a:ext cx="304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FL algorithms applicable to CAV tasks including FedAvg, FedProx, and personalized FL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28160" y="3048000"/>
            <a:ext cx="3535680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0" y="3230880"/>
            <a:ext cx="7924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0" y="37795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CAV Applications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0" y="4267200"/>
            <a:ext cx="304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FL in Perception, Motion Planning, and Motion Control tasks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46720" y="3048000"/>
            <a:ext cx="3535680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90560" y="3230880"/>
            <a:ext cx="833562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90560" y="37795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Challenges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90560" y="4267200"/>
            <a:ext cx="304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open challenges and research opportunities in FL for CAVs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2: Federated Learning Framework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219200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Architecture for CAVs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28800" y="1889760"/>
            <a:ext cx="268224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Server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(lobal Model)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3413760"/>
            <a:ext cx="14630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1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38400" y="3413760"/>
            <a:ext cx="14630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2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67200" y="3413760"/>
            <a:ext cx="14630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61760" y="1219200"/>
            <a:ext cx="5120640" cy="499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61760" y="1219200"/>
            <a:ext cx="5120640" cy="4876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44640" y="128016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Training Process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05600" y="182880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93280" y="1828800"/>
            <a:ext cx="14630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Initialize: 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34400" y="1828800"/>
            <a:ext cx="28041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initializes global model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05600" y="2535936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93280" y="2535936"/>
            <a:ext cx="14630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Distribute: 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34400" y="2535936"/>
            <a:ext cx="28041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 sent to vehicles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05600" y="3243072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93280" y="3243072"/>
            <a:ext cx="14630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Training: 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534400" y="3243072"/>
            <a:ext cx="28041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vehicle trains on local data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05600" y="3950208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93280" y="3950208"/>
            <a:ext cx="14630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Upload: 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34400" y="3950208"/>
            <a:ext cx="28041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updates sent to server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05600" y="4657344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193280" y="4657344"/>
            <a:ext cx="14630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Aggregate: 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534400" y="4657344"/>
            <a:ext cx="28041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aggregates updates (FedAvg)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05600" y="536448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193280" y="5364480"/>
            <a:ext cx="14630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Iterate: 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534400" y="5364480"/>
            <a:ext cx="28041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convergence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2FE7892-95BE-7A9E-9EAC-6FE8E7314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166" y="1889760"/>
            <a:ext cx="4431695" cy="38849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2: Key Applications by CAV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609600" y="1341120"/>
          <a:ext cx="10972800" cy="5120640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 Task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 Applications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Benefits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detection, Lane detection, Semantic segmentation, Sensor fusion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from diverse visual scenarios across fleet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 Planning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planning, Trajectory prediction, Behavior prediction, Route optimization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decision-making from collective experience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 Control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Steering control, Speed control, Braking systems, Vehicle dynamics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control across vehicle types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V2X Communication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allocation, Channel estimation, Spectrum management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Privacy-preserving network optimization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Prediction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prediction, Congestion detection, Incident prediction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City-wide learning without data centralization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2: Challenges &amp; Future Directions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600" y="1341120"/>
            <a:ext cx="3535680" cy="1889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609600" y="1341120"/>
            <a:ext cx="3535680" cy="426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731520" y="140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Heterogeneity</a:t>
            </a:r>
            <a:endParaRPr lang="en-US" sz="1467" dirty="0"/>
          </a:p>
        </p:txBody>
      </p:sp>
      <p:sp>
        <p:nvSpPr>
          <p:cNvPr id="6" name="Text 4"/>
          <p:cNvSpPr/>
          <p:nvPr/>
        </p:nvSpPr>
        <p:spPr>
          <a:xfrm>
            <a:off x="731520" y="188976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Non-IID data distribution across vehicles affects model convergence</a:t>
            </a:r>
            <a:endParaRPr lang="en-US" sz="1333" dirty="0"/>
          </a:p>
        </p:txBody>
      </p:sp>
      <p:sp>
        <p:nvSpPr>
          <p:cNvPr id="7" name="Shape 5"/>
          <p:cNvSpPr/>
          <p:nvPr/>
        </p:nvSpPr>
        <p:spPr>
          <a:xfrm>
            <a:off x="4267200" y="1341120"/>
            <a:ext cx="3535680" cy="1889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4267200" y="1341120"/>
            <a:ext cx="3535680" cy="426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4389120" y="140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Communication Overhead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4389120" y="188976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bandwidth in vehicular networks for model updates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7924800" y="1341120"/>
            <a:ext cx="3535680" cy="1889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7924800" y="1341120"/>
            <a:ext cx="3535680" cy="426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8046720" y="140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System Heterogeneity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8046720" y="188976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computing capabilities across vehicle types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609600" y="3352800"/>
            <a:ext cx="3535680" cy="1889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609600" y="3352800"/>
            <a:ext cx="3535680" cy="426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731520" y="3413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Security Attacks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731520" y="390144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to poisoning and inference attacks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4267200" y="3352800"/>
            <a:ext cx="3535680" cy="1889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4267200" y="3352800"/>
            <a:ext cx="3535680" cy="426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4389120" y="3413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Real-Time Constraints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4389120" y="390144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decisions require low latency updates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7924800" y="3352800"/>
            <a:ext cx="3535680" cy="1889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7924800" y="3352800"/>
            <a:ext cx="3535680" cy="426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8046720" y="3413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Scalability Issues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8046720" y="390144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millions of vehicles in a single FL system</a:t>
            </a:r>
            <a:endParaRPr lang="en-US" sz="1333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6EF08CEE-A373-55FA-0752-DBB79BACF929}"/>
              </a:ext>
            </a:extLst>
          </p:cNvPr>
          <p:cNvSpPr/>
          <p:nvPr/>
        </p:nvSpPr>
        <p:spPr>
          <a:xfrm>
            <a:off x="633454" y="5455920"/>
            <a:ext cx="10827026" cy="7659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My Understanding: Explore personalized FL, hierarchical architectures, secure aggregations, and edge computing integration for real-time CAV applications.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&amp; Synergies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609600" y="1219200"/>
          <a:ext cx="10972800" cy="365760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1: LLMs for 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2: FL for CAVs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Review (130+ papers)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Language Models, Transformers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Learning, Distributed 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Focus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NLP-based intelligence for 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Privacy-preserving collaborative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Applications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driving, Safety, Tourism, Traffic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Perception, Motion Planning,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Concern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data in LLM interactions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sensor data protection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Challenge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processing, Explainability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heterogeneity, Communication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09600" y="5120640"/>
            <a:ext cx="10972800" cy="1584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853440" y="5242560"/>
            <a:ext cx="104851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Synergy: Federated SLMs for ITS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853440" y="5730240"/>
            <a:ext cx="104851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FL with SLMs could enable privacy-preserving training of language models across vehicle fleets. Vehicles could collaboratively improve SLM-based driving assistants without sharing sensitive user interactions or driving data.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3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463040"/>
            <a:ext cx="2438400" cy="60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828800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19200" y="1828800"/>
            <a:ext cx="10363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transforming ITS across autonomous driving, safety, tourism, and traffic management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2621280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" y="2621280"/>
            <a:ext cx="10363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enables privacy-preserving collaborative ML for connected vehicles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3413760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19200" y="3413760"/>
            <a:ext cx="10363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technologies address critical needs: intelligence (LLMs) and privacy (FL)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4206240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19200" y="4206240"/>
            <a:ext cx="10363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include real-time processing, data heterogeneity, and security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4998720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19200" y="4998720"/>
            <a:ext cx="10363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opportunity: Federated LLMs for intelligent transportation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" y="5852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3733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fb99db-04b0-4879-8e73-d3174e57b086}" enabled="1" method="Standard" siteId="{ec3c7dee-d552-494b-a393-7f941a90b98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999</Words>
  <Application>Microsoft Office PowerPoint</Application>
  <PresentationFormat>Widescreen</PresentationFormat>
  <Paragraphs>220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Georgia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ZS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Vijay Gupta</dc:creator>
  <cp:lastModifiedBy>Ankit Vijay Gupta</cp:lastModifiedBy>
  <cp:revision>2</cp:revision>
  <dcterms:created xsi:type="dcterms:W3CDTF">2026-01-28T07:18:36Z</dcterms:created>
  <dcterms:modified xsi:type="dcterms:W3CDTF">2026-01-28T08:20:14Z</dcterms:modified>
</cp:coreProperties>
</file>